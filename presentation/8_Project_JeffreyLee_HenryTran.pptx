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205b5345_2_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Presenter: both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Hello, I am Jeffrey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And I am Henry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And we will be presenting on the paper, SoK: A Security Architect’s View of Printed Circuit Board Attacks</a:t>
            </a:r>
            <a:endParaRPr/>
          </a:p>
        </p:txBody>
      </p:sp>
      <p:sp>
        <p:nvSpPr>
          <p:cNvPr id="136" name="Google Shape;136;g3e6205b5345_2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b6c9a57c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b6c9a57c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Presenter: Henry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&lt;Just read off the slide&gt;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83d632f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83d632f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83d632f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83d632f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mailto:farinaz@ucsd.edu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618920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1128418" y="1001927"/>
            <a:ext cx="6858000" cy="136087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0" i="0" sz="2700" u="none" strike="noStrik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13836" y="2460627"/>
            <a:ext cx="6887165" cy="9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144678" y="3382233"/>
            <a:ext cx="3370672" cy="124182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</a:t>
            </a:r>
            <a:endParaRPr b="0" i="0" sz="11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Prof. Farinaz Koushanfar</a:t>
            </a:r>
            <a:endParaRPr b="0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farinaz@ucsd.edu</a:t>
            </a:r>
            <a:endParaRPr b="0" i="0" sz="14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9" y="4084952"/>
            <a:ext cx="2057400" cy="65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4360" y="73855"/>
            <a:ext cx="1397723" cy="139772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74948" y="4866501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ECE 226 – Winter 2025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0" y="4831156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74947" y="4866501"/>
            <a:ext cx="9069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ECE 268 – Spring 202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628650" y="273844"/>
            <a:ext cx="7886700" cy="72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5"/>
          <p:cNvSpPr/>
          <p:nvPr/>
        </p:nvSpPr>
        <p:spPr>
          <a:xfrm>
            <a:off x="0" y="4831156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Security of Hardware Embedded Systems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74947" y="4866501"/>
            <a:ext cx="9069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ECE 268 – Spring 202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Prof. Koushanfar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28650" y="930243"/>
            <a:ext cx="8178110" cy="7180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1720" y="273482"/>
            <a:ext cx="867259" cy="867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3/27/20</a:t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28650" y="930243"/>
            <a:ext cx="8178110" cy="7180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81720" y="273482"/>
            <a:ext cx="867259" cy="86725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0" y="4831156"/>
            <a:ext cx="9144000" cy="312344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Security of Hardware Embedded Systems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4947" y="4866501"/>
            <a:ext cx="90690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ECE 268 – Spring 202</a:t>
            </a: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Prof. Koushanfar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1" name="Google Shape;111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9" name="Google Shape;119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ctrTitle"/>
          </p:nvPr>
        </p:nvSpPr>
        <p:spPr>
          <a:xfrm>
            <a:off x="1028405" y="584026"/>
            <a:ext cx="6858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" sz="2100">
                <a:solidFill>
                  <a:srgbClr val="888888"/>
                </a:solidFill>
              </a:rPr>
              <a:t>UCSD ECE 268 - Security of Hardware Embedded Systems</a:t>
            </a:r>
            <a:endParaRPr sz="2100">
              <a:solidFill>
                <a:srgbClr val="888888"/>
              </a:solidFill>
            </a:endParaRPr>
          </a:p>
        </p:txBody>
      </p:sp>
      <p:sp>
        <p:nvSpPr>
          <p:cNvPr id="139" name="Google Shape;139;p24"/>
          <p:cNvSpPr txBox="1"/>
          <p:nvPr>
            <p:ph idx="1" type="subTitle"/>
          </p:nvPr>
        </p:nvSpPr>
        <p:spPr>
          <a:xfrm>
            <a:off x="1013848" y="2110952"/>
            <a:ext cx="68871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100"/>
              <a:t>Merkle Tree with Post-Quantum Secure Hash</a:t>
            </a:r>
            <a:endParaRPr b="1" sz="21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100"/>
              <a:t>KangarooTwelve and Rescue-Prime</a:t>
            </a:r>
            <a:endParaRPr sz="2100"/>
          </a:p>
        </p:txBody>
      </p:sp>
      <p:sp>
        <p:nvSpPr>
          <p:cNvPr id="140" name="Google Shape;140;p24"/>
          <p:cNvSpPr txBox="1"/>
          <p:nvPr/>
        </p:nvSpPr>
        <p:spPr>
          <a:xfrm>
            <a:off x="2079600" y="3032550"/>
            <a:ext cx="4755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Jeffrey Lee, Henry Tran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June 4th, 2026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628650" y="273844"/>
            <a:ext cx="7886700" cy="72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Background &amp; Motivation</a:t>
            </a:r>
            <a:endParaRPr b="1"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628650" y="1369225"/>
            <a:ext cx="43902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Merkle Tree:</a:t>
            </a:r>
            <a:endParaRPr/>
          </a:p>
          <a:p>
            <a:pPr indent="-297498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-"/>
            </a:pPr>
            <a:r>
              <a:rPr lang="en"/>
              <a:t>Hierarchical cryptographic data structure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-"/>
            </a:pPr>
            <a:r>
              <a:rPr lang="en"/>
              <a:t>Leaves = hash of data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-"/>
            </a:pPr>
            <a:r>
              <a:rPr lang="en"/>
              <a:t>Parents = hash of children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Kangaroo12:</a:t>
            </a:r>
            <a:endParaRPr/>
          </a:p>
          <a:p>
            <a:pPr indent="-297498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-"/>
            </a:pPr>
            <a:r>
              <a:rPr lang="en"/>
              <a:t>Need for modern standard with high throughput on standard hardware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-"/>
            </a:pPr>
            <a:r>
              <a:rPr lang="en"/>
              <a:t>Based on SHA3 permutation,utilizes relies heavily on operations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Rescue-Prime:</a:t>
            </a:r>
            <a:endParaRPr/>
          </a:p>
          <a:p>
            <a:pPr indent="-297498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-"/>
            </a:pPr>
            <a:r>
              <a:rPr lang="en"/>
              <a:t>Meant for zero-knowledge proving  systems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-"/>
            </a:pPr>
            <a:r>
              <a:rPr lang="en"/>
              <a:t>Operates over large prime fields relying on modular arithmetic and matrix operations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225" y="2107703"/>
            <a:ext cx="3710099" cy="17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628650" y="273844"/>
            <a:ext cx="7886700" cy="72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628650" y="1369225"/>
            <a:ext cx="7886700" cy="212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Merkle Tree: exploit parallelism on GPU by level-batched hashing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KangarooTwelve: parallelize Keccak </a:t>
            </a:r>
            <a:r>
              <a:rPr lang="en"/>
              <a:t>permutations</a:t>
            </a:r>
            <a:r>
              <a:rPr lang="en"/>
              <a:t> for chaining values, exploit any optimizations for bitwise operations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Rescue-Prime: can exploit parallelism of matrix multiplication in the MDS Matrix Multiplication layer of the Rescue-XLIX permutations and operations mapped accross a state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3">
            <a:alphaModFix/>
          </a:blip>
          <a:srcRect b="0" l="0" r="0" t="59244"/>
          <a:stretch/>
        </p:blipFill>
        <p:spPr>
          <a:xfrm>
            <a:off x="628650" y="3492924"/>
            <a:ext cx="5022342" cy="9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4450" y="3121500"/>
            <a:ext cx="2840623" cy="148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/>
          <p:nvPr/>
        </p:nvSpPr>
        <p:spPr>
          <a:xfrm>
            <a:off x="163075" y="3492925"/>
            <a:ext cx="5695800" cy="601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628650" y="273844"/>
            <a:ext cx="7886700" cy="72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Results, Observations, Next Steps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628650" y="1369225"/>
            <a:ext cx="39435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Sequential hashing data blocks (eg. a single level on Merkle Tree) with GPU-optimized hash functions did not necessarily yield speedup.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Batching across a level yielded drastically improved performance.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KangarooTwelve underperforms </a:t>
            </a:r>
            <a:r>
              <a:rPr lang="en"/>
              <a:t>significantly</a:t>
            </a:r>
            <a:r>
              <a:rPr lang="en"/>
              <a:t> on GPU, even when batched.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Next steps: continue work on GPU optimizations on KangarooTwelve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 rotWithShape="1">
          <a:blip r:embed="rId3">
            <a:alphaModFix/>
          </a:blip>
          <a:srcRect b="33200" l="0" r="50992" t="34882"/>
          <a:stretch/>
        </p:blipFill>
        <p:spPr>
          <a:xfrm>
            <a:off x="5181794" y="1217975"/>
            <a:ext cx="2481590" cy="91024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5094300" y="2128218"/>
            <a:ext cx="26565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with Rescue-Prime Yielding 0.05x speedup (GPU vs CPU)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7"/>
          <p:cNvPicPr preferRelativeResize="0"/>
          <p:nvPr/>
        </p:nvPicPr>
        <p:blipFill rotWithShape="1">
          <a:blip r:embed="rId4">
            <a:alphaModFix/>
          </a:blip>
          <a:srcRect b="25816" l="0" r="64886" t="38027"/>
          <a:stretch/>
        </p:blipFill>
        <p:spPr>
          <a:xfrm>
            <a:off x="5181794" y="2523872"/>
            <a:ext cx="2481592" cy="76943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 txBox="1"/>
          <p:nvPr/>
        </p:nvSpPr>
        <p:spPr>
          <a:xfrm>
            <a:off x="5094300" y="3293307"/>
            <a:ext cx="26565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with Rescue-Prime Yielding ~60x speedup! (GPU vs CPU)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5">
            <a:alphaModFix/>
          </a:blip>
          <a:srcRect b="43080" l="0" r="44574" t="12676"/>
          <a:stretch/>
        </p:blipFill>
        <p:spPr>
          <a:xfrm>
            <a:off x="4561707" y="3688950"/>
            <a:ext cx="3721769" cy="7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5094338" y="4510832"/>
            <a:ext cx="26565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650" lIns="70650" spcFirstLastPara="1" rIns="70650" wrap="square" tIns="70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with KangarooTwelve  Yielding ~0.03x speedup (GPU vs CPU)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